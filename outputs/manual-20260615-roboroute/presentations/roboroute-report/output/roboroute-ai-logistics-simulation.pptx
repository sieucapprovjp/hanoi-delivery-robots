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7c71ed0dee488c" /><Relationship Type="http://schemas.openxmlformats.org/officeDocument/2006/relationships/extended-properties" Target="/docProps/app.xml" Id="R05f810fccc694e8b" /><Relationship Type="http://schemas.openxmlformats.org/officeDocument/2006/relationships/officeDocument" Target="/ppt/presentation.xml" Id="Re65c53f4170043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9352f9caef42d7"/>
  </p:sldMasterIdLst>
  <p:notesMasterIdLst>
    <p:notesMasterId xmlns:r="http://schemas.openxmlformats.org/officeDocument/2006/relationships" r:id="R84731ea9332d4837"/>
  </p:notesMasterIdLst>
  <p:sldIdLst>
    <p:sldId xmlns:r="http://schemas.openxmlformats.org/officeDocument/2006/relationships" id="256" r:id="R0be2c514e1284cb5"/>
    <p:sldId xmlns:r="http://schemas.openxmlformats.org/officeDocument/2006/relationships" id="257" r:id="Rf1eaa27047824d1a"/>
    <p:sldId xmlns:r="http://schemas.openxmlformats.org/officeDocument/2006/relationships" id="258" r:id="Ref641f0f22fa49ff"/>
    <p:sldId xmlns:r="http://schemas.openxmlformats.org/officeDocument/2006/relationships" id="259" r:id="R0782bbe2bce34d8a"/>
    <p:sldId xmlns:r="http://schemas.openxmlformats.org/officeDocument/2006/relationships" id="260" r:id="R7867085b6a7d4b67"/>
    <p:sldId xmlns:r="http://schemas.openxmlformats.org/officeDocument/2006/relationships" id="261" r:id="R97164eb6f2544e74"/>
    <p:sldId xmlns:r="http://schemas.openxmlformats.org/officeDocument/2006/relationships" id="262" r:id="R1bbbb2728863455d"/>
    <p:sldId xmlns:r="http://schemas.openxmlformats.org/officeDocument/2006/relationships" id="263" r:id="Raeae78d103e9472a"/>
    <p:sldId xmlns:r="http://schemas.openxmlformats.org/officeDocument/2006/relationships" id="264" r:id="R06dccd80f26d47dc"/>
    <p:sldId xmlns:r="http://schemas.openxmlformats.org/officeDocument/2006/relationships" id="265" r:id="Rd176a4678ba645d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9800a414d441f3" /><Relationship Type="http://schemas.openxmlformats.org/officeDocument/2006/relationships/slideMaster" Target="/ppt/slideMasters/slideMaster1.xml" Id="R819352f9caef42d7" /><Relationship Type="http://schemas.openxmlformats.org/officeDocument/2006/relationships/notesMaster" Target="/ppt/notesMasters/notesMaster1.xml" Id="R84731ea9332d4837" /><Relationship Type="http://schemas.openxmlformats.org/officeDocument/2006/relationships/presProps" Target="/ppt/presProps.xml" Id="R2576c4f2c2dd4a26" /><Relationship Type="http://schemas.openxmlformats.org/officeDocument/2006/relationships/viewProps" Target="/ppt/viewProps.xml" Id="R0ac8d22184ff4c42" /><Relationship Type="http://schemas.openxmlformats.org/officeDocument/2006/relationships/tableStyles" Target="/ppt/tableStyles.xml" Id="Rf07de504e94e4787" /><Relationship Type="http://schemas.openxmlformats.org/officeDocument/2006/relationships/slide" Target="/ppt/slides/slide1.xml" Id="R0be2c514e1284cb5" /><Relationship Type="http://schemas.openxmlformats.org/officeDocument/2006/relationships/slide" Target="/ppt/slides/slide2.xml" Id="Rf1eaa27047824d1a" /><Relationship Type="http://schemas.openxmlformats.org/officeDocument/2006/relationships/slide" Target="/ppt/slides/slide3.xml" Id="Ref641f0f22fa49ff" /><Relationship Type="http://schemas.openxmlformats.org/officeDocument/2006/relationships/slide" Target="/ppt/slides/slide4.xml" Id="R0782bbe2bce34d8a" /><Relationship Type="http://schemas.openxmlformats.org/officeDocument/2006/relationships/slide" Target="/ppt/slides/slide5.xml" Id="R7867085b6a7d4b67" /><Relationship Type="http://schemas.openxmlformats.org/officeDocument/2006/relationships/slide" Target="/ppt/slides/slide6.xml" Id="R97164eb6f2544e74" /><Relationship Type="http://schemas.openxmlformats.org/officeDocument/2006/relationships/slide" Target="/ppt/slides/slide7.xml" Id="R1bbbb2728863455d" /><Relationship Type="http://schemas.openxmlformats.org/officeDocument/2006/relationships/slide" Target="/ppt/slides/slide8.xml" Id="Raeae78d103e9472a" /><Relationship Type="http://schemas.openxmlformats.org/officeDocument/2006/relationships/slide" Target="/ppt/slides/slide9.xml" Id="R06dccd80f26d47dc" /><Relationship Type="http://schemas.openxmlformats.org/officeDocument/2006/relationships/slide" Target="/ppt/slides/slide10.xml" Id="Rd176a4678ba645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ffda8dde9d4b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c54086729a483a" /><Relationship Type="http://schemas.openxmlformats.org/officeDocument/2006/relationships/notesMaster" Target="/ppt/notesMasters/notesMaster1.xml" Id="R06b997d2a5e145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70a8ab10264233" /><Relationship Type="http://schemas.openxmlformats.org/officeDocument/2006/relationships/notesMaster" Target="/ppt/notesMasters/notesMaster1.xml" Id="R5eb5099f23d04a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57c969bd0c482a" /><Relationship Type="http://schemas.openxmlformats.org/officeDocument/2006/relationships/notesMaster" Target="/ppt/notesMasters/notesMaster1.xml" Id="R561e43d3e2cb45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2071f49d99452c" /><Relationship Type="http://schemas.openxmlformats.org/officeDocument/2006/relationships/notesMaster" Target="/ppt/notesMasters/notesMaster1.xml" Id="Rb1d9017eb26f4b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7500c9e6c044de" /><Relationship Type="http://schemas.openxmlformats.org/officeDocument/2006/relationships/notesMaster" Target="/ppt/notesMasters/notesMaster1.xml" Id="Rffe75b030d1448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cf2c330e864146" /><Relationship Type="http://schemas.openxmlformats.org/officeDocument/2006/relationships/notesMaster" Target="/ppt/notesMasters/notesMaster1.xml" Id="Rae5329a15fda4b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a091d56fd4426e" /><Relationship Type="http://schemas.openxmlformats.org/officeDocument/2006/relationships/notesMaster" Target="/ppt/notesMasters/notesMaster1.xml" Id="Ra49b774c443644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f8bf44d84e4035" /><Relationship Type="http://schemas.openxmlformats.org/officeDocument/2006/relationships/notesMaster" Target="/ppt/notesMasters/notesMaster1.xml" Id="Re19d677603c949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f50040717d425c" /><Relationship Type="http://schemas.openxmlformats.org/officeDocument/2006/relationships/notesMaster" Target="/ppt/notesMasters/notesMaster1.xml" Id="R52b87beb9e9543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81dc3280864d99" /><Relationship Type="http://schemas.openxmlformats.org/officeDocument/2006/relationships/notesMaster" Target="/ppt/notesMasters/notesMaster1.xml" Id="R83b936e2e01c46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0f0c2efb5d44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590c41f75d42dc" /><Relationship Type="http://schemas.openxmlformats.org/officeDocument/2006/relationships/slideLayout" Target="/ppt/slideLayouts/slideLayout1.xml" Id="R1aad3af6ba8f45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ad3af6ba8f45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702c531824709" /><Relationship Type="http://schemas.openxmlformats.org/officeDocument/2006/relationships/notesSlide" Target="/ppt/notesSlides/notesSlide1.xml" Id="Ra53d7beb4bd049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ab59c5d284809" /><Relationship Type="http://schemas.openxmlformats.org/officeDocument/2006/relationships/notesSlide" Target="/ppt/notesSlides/notesSlide2.xml" Id="Rcf0aff94cec542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7e4a9ac994a17" /><Relationship Type="http://schemas.openxmlformats.org/officeDocument/2006/relationships/notesSlide" Target="/ppt/notesSlides/notesSlide3.xml" Id="R10886fae404b40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d962f007b4f10" /><Relationship Type="http://schemas.openxmlformats.org/officeDocument/2006/relationships/notesSlide" Target="/ppt/notesSlides/notesSlide4.xml" Id="R948e97ff0e7a42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2c894123e47cb" /><Relationship Type="http://schemas.openxmlformats.org/officeDocument/2006/relationships/notesSlide" Target="/ppt/notesSlides/notesSlide5.xml" Id="R12649f5de25e42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ac26f87fc416a" /><Relationship Type="http://schemas.openxmlformats.org/officeDocument/2006/relationships/notesSlide" Target="/ppt/notesSlides/notesSlide6.xml" Id="R6d891e704f2e4f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9e356fac646aa" /><Relationship Type="http://schemas.openxmlformats.org/officeDocument/2006/relationships/notesSlide" Target="/ppt/notesSlides/notesSlide7.xml" Id="R74d15dc2c5b44f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ef2901b3a46be" /><Relationship Type="http://schemas.openxmlformats.org/officeDocument/2006/relationships/notesSlide" Target="/ppt/notesSlides/notesSlide8.xml" Id="R02203977132c41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86f64497149f0" /><Relationship Type="http://schemas.openxmlformats.org/officeDocument/2006/relationships/notesSlide" Target="/ppt/notesSlides/notesSlide9.xml" Id="R9faa5c962e6a4f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04be303734a42" /><Relationship Type="http://schemas.openxmlformats.org/officeDocument/2006/relationships/notesSlide" Target="/ppt/notesSlides/notesSlide10.xml" Id="Rbc7bd84dcfc24a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69DCE1-5D6A-4C57-A356-1B43218C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4B35A-909A-4EE7-A6C1-98A8AF92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8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483B1-268E-4940-B0FA-4AAC1C37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RoboRoute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2FDAE-8018-40A4-A795-0024B0BD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32460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README/docs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54958-1332-46DA-BBB3-FCB99314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05550"/>
            <a:ext cx="4000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106204D-D8FE-44C8-9447-823A12AA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05A47"/>
          </a:solidFill>
          <a:ln xmlns:a="http://schemas.openxmlformats.org/drawingml/2006/main">
            <a:noFill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BAF1CF2-D349-4864-8D10-BB3EF74E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"/>
            <a:ext cx="34290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AI LOGISTICS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B6ABD-93D9-4D92-A99E-DD97C72C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1123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RoboRoute turns delivery robots into an explainable AI pipeline.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D0D6E-0962-4965-AB39-F0CA9A02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6572250" cy="76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A Hoan Kiem delivery-robot simulation combining graph search, dynamic environment costs, CSP dispatch, XAI, VRP/PDP, and K-means hub optimization.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DA6A0-DD94-4FD0-80CB-0CFC41E6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00125"/>
            <a:ext cx="28575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90B63-13FA-4D23-AE54-EBD3AEA2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114425"/>
            <a:ext cx="2514600" cy="3333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05A4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05A4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97EBBD-B7BA-4495-B76A-8B652B50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95425"/>
            <a:ext cx="25146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AI components in the pipeline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F7A0ED-5EDC-42A4-A17C-63A4946F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8575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9DA9B8-8757-4C50-AA5F-9251A6A7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66925"/>
            <a:ext cx="2514600" cy="3333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D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F6FD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F0B91C-6346-49A2-B8A1-4CADFA77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47925"/>
            <a:ext cx="25146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production route algorithms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4DF79C-BD60-49E6-BB7D-D2F8E624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05125"/>
            <a:ext cx="28575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2EF910-F381-4AB7-A3B0-02E7F600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19425"/>
            <a:ext cx="2514600" cy="3333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B7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8B7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762E2-F255-4E7F-A42E-22F5BCFA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00425"/>
            <a:ext cx="25146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orders per robot capacity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6F1320-63E5-49B9-B175-501D9845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57625"/>
            <a:ext cx="28575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E54617-7F0F-465F-90A3-9EF4BA82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71925"/>
            <a:ext cx="2514600" cy="3333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D8F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D8F3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78F4F7-B945-4E22-84CE-FF391634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52925"/>
            <a:ext cx="25146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K-means hub clusters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E66BAA-4270-40AA-B889-72B6C7E2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571500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172022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069469-67E0-42CD-A546-2592CAB0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Talk track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C7B9E5-7A03-49AD-B21F-B875A320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5143500" cy="666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This is not a visual-only map demo. The system repeatedly decides: which robot, which route, which order sequence, and why that choice is defensible.</a:t>
            </a:r>
          </a:p>
        </p:txBody>
      </p:sp>
    </p:spTree>
    <p:extLst>
      <p:ext uri="{BB962C8B-B14F-4D97-AF65-F5344CB8AC3E}">
        <p14:creationId xmlns:p14="http://schemas.microsoft.com/office/powerpoint/2010/main" val="15394519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A30A62-574F-483C-8C70-0DEDD23F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53BFF-7999-433B-AB6B-47F4A0EE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8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7ABB0-1B40-4054-863D-A0348770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RoboRoute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FDFA4-166F-4880-BD62-0599D3D1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32460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README/docs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E6AC3-14E3-40FB-8848-F2FDB653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05550"/>
            <a:ext cx="4000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4D87A14-4589-41E8-8988-F9661502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89022"/>
          </a:solidFill>
          <a:ln xmlns:a="http://schemas.openxmlformats.org/drawingml/2006/main">
            <a:noFill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0D3A8DD-D699-4A64-BBB9-957F11D7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"/>
            <a:ext cx="34290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PROBLEM FRAMING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784BD-7285-45BB-AB40-344D3ABB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810500" cy="83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The hard part is choosing under moving constraints, not drawing a route.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07BD3-F9B5-41B2-A28A-701FB01D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733425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Every new order creates a small decision problem: availability, battery, capacity, route cost, environment penalties, and priority all move at once.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A8EE1-AFCC-4A93-9028-C0C6A22A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8DED7"/>
          </a:solidFill>
          <a:ln xmlns:a="http://schemas.openxmlformats.org/drawingml/2006/main" w="11430">
            <a:solidFill>
              <a:srgbClr val="E05A4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4F9B0-B805-4BF0-A438-A20450D2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22098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Order pressure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9A566-155C-4ADB-87D7-92F82AD8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209800" cy="76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New pickup/dropoff points arrive during the simulation and wait time increases priority.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7BA77-A5E5-4F67-B00F-3518895D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241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11430">
            <a:solidFill>
              <a:srgbClr val="2F6F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F5D9F-6EC3-49F1-99C6-4289C9B8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38450"/>
            <a:ext cx="22098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Robot constraints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26CD7-EA41-4E56-9BE1-3B2BF7A0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24200"/>
            <a:ext cx="2209800" cy="76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Status, battery, current load, capacity, and current location decide feasibility.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A8FAD-5613-42AA-9B70-B831D7D8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241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11430">
            <a:solidFill>
              <a:srgbClr val="008B7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EAA21A-C6B0-4071-A3F9-C2313728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38450"/>
            <a:ext cx="22098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City dynamics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670601-C77F-4E0A-8992-6325C34B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24200"/>
            <a:ext cx="2209800" cy="76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Rain, traffic, obstacles, and road memory change edge weights before routing.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4D01ED-CFDF-43AD-929E-7968AF13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28988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4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9F4E07-E45D-4CB3-8330-7C3DDB46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28988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4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0A27C-0070-429B-AAB1-4A824155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Core question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CC88C1-E7C4-4050-8C7E-049EAEA4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84772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Which robot should receive which order, by which path, with which explanation?</a:t>
            </a:r>
          </a:p>
        </p:txBody>
      </p:sp>
    </p:spTree>
    <p:extLst>
      <p:ext uri="{BB962C8B-B14F-4D97-AF65-F5344CB8AC3E}">
        <p14:creationId xmlns:p14="http://schemas.microsoft.com/office/powerpoint/2010/main" val="13693144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94BD1D-2206-43A2-A4B2-4836ECF0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4471C-3E30-4E5C-B303-D87968C3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8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C202E-F9EC-408D-A599-020267F6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RoboRoute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4DB0D-B95B-4DE1-A314-45010D7B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32460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docs/architecture.md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19015-DE18-4D13-B1D2-E64E8393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05550"/>
            <a:ext cx="4000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5554D44-6557-4095-A03B-96CEB50C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05A47"/>
          </a:solidFill>
          <a:ln xmlns:a="http://schemas.openxmlformats.org/drawingml/2006/main">
            <a:noFill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F894DD6-0240-464E-8B95-CA2778E2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"/>
            <a:ext cx="34290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3B75A-F353-4FC8-A6FC-EF465569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810500" cy="83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Frontend animates the world; backend owns the AI decisions.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DBF91-1087-410B-99FF-3E9B3772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4476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02D66-74E9-465E-90FE-A49354ED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4476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C96AF-03C2-4AE8-ADDC-F366719B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1714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FD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6FDB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D8AD6-14B2-42E4-8085-8A4F36B3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33600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05A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05A47"/>
                </a:solidFill>
                <a:latin typeface="Aptos"/>
                <a:ea typeface="Aptos"/>
                <a:cs typeface="Aptos"/>
              </a:rPr>
              <a:t>Backend Flask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F4FC7-1014-43D2-9C31-75A3C644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152400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11430">
            <a:solidFill>
              <a:srgbClr val="2F6F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7BC95-7E36-4979-962D-D687A4DA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19400"/>
            <a:ext cx="12573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Leaflet 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2F9AE-2229-403D-BAE6-E48C176E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12573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markers, paths, hubs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111085-41AA-4DC6-9326-5873F985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05100"/>
            <a:ext cx="152400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11430">
            <a:solidFill>
              <a:srgbClr val="2F6F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630DB3-5F79-4FC7-BD88-C8BC8209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19400"/>
            <a:ext cx="12573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Simulation loop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6A60E-4879-4CB4-9857-66558434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05150"/>
            <a:ext cx="12573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orders, movement, reroute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9C9D03-326A-42A6-B78B-CAE98CCC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152400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11430">
            <a:solidFill>
              <a:srgbClr val="2F6F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9B1DF6-ABCA-4F57-9ACE-AEAA161F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12573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Robot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84C051-0813-4A39-8221-E1613915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2573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load, battery, queue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067774-E555-4995-828C-EC780EB1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48100"/>
            <a:ext cx="152400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11430">
            <a:solidFill>
              <a:srgbClr val="2F6F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635089-640F-4984-A353-4271D804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62400"/>
            <a:ext cx="12573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XAI panels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001798-60BD-4083-893C-7A59E6A6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48150"/>
            <a:ext cx="12573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timeline + metrics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E30D9C-3DF5-4824-8655-6C126C82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52400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8DED7"/>
          </a:solidFill>
          <a:ln xmlns:a="http://schemas.openxmlformats.org/drawingml/2006/main" w="11430">
            <a:solidFill>
              <a:srgbClr val="E05A4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5844F6-12FD-4FCD-A3EE-47349B49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19400"/>
            <a:ext cx="12573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OSM graph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1F781F-2CBD-4B16-B933-E04DB0A5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05150"/>
            <a:ext cx="12573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NetworkX / OSMnx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D735E4-D312-4C18-8A51-59B8BAC5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05100"/>
            <a:ext cx="152400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8DED7"/>
          </a:solidFill>
          <a:ln xmlns:a="http://schemas.openxmlformats.org/drawingml/2006/main" w="11430">
            <a:solidFill>
              <a:srgbClr val="E05A4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349289-1A6F-4E2A-84A6-49BA1E80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19400"/>
            <a:ext cx="12573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Dispatch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D7B7E1-56B2-49F1-BDA7-6513D8E9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05150"/>
            <a:ext cx="12573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CSP + scoring + VRP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7A8218-1E13-418B-AC74-9A04EED9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48100"/>
            <a:ext cx="152400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8DED7"/>
          </a:solidFill>
          <a:ln xmlns:a="http://schemas.openxmlformats.org/drawingml/2006/main" w="11430">
            <a:solidFill>
              <a:srgbClr val="E05A4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6A8322-38E0-40A5-85D8-49C2B6AB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62400"/>
            <a:ext cx="12573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Environment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E183E9-F644-456C-A3EF-F1FBA252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48150"/>
            <a:ext cx="12573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weighted edge cost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2C759C-99EF-4317-9476-F0A83CFD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48100"/>
            <a:ext cx="152400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8DED7"/>
          </a:solidFill>
          <a:ln xmlns:a="http://schemas.openxmlformats.org/drawingml/2006/main" w="11430">
            <a:solidFill>
              <a:srgbClr val="E05A4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4150A3-0A7D-463B-94DD-6EE3FB7F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62400"/>
            <a:ext cx="12573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K-means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EAA7E6-F290-4827-8F47-A02AB3CD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48150"/>
            <a:ext cx="125730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hub centroids + snap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BF018C-9E1B-431D-B9A4-A6F0687C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38513"/>
            <a:ext cx="1447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8"/>
          </a:solidFill>
          <a:ln xmlns:a="http://schemas.openxmlformats.org/drawingml/2006/main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D9C660-55D1-4BA1-9D82-F1D4AF08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28950"/>
            <a:ext cx="8572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REST APIs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C4C3C3-0692-4EB9-A048-880712D9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9513"/>
            <a:ext cx="1447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8"/>
          </a:solidFill>
          <a:ln xmlns:a="http://schemas.openxmlformats.org/drawingml/2006/main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773939-223E-4986-AE4C-302D6817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48100"/>
            <a:ext cx="9906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assignments</a:t>
            </a:r>
          </a:p>
        </p:txBody>
      </p:sp>
    </p:spTree>
    <p:extLst>
      <p:ext uri="{BB962C8B-B14F-4D97-AF65-F5344CB8AC3E}">
        <p14:creationId xmlns:p14="http://schemas.microsoft.com/office/powerpoint/2010/main" val="8309448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479E63-D71F-4DED-868D-C87B3A92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2DDA5-231F-4C59-85F4-E4AFAEA4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8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8D03F-6BB0-43F9-9678-0EAB5A7D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RoboRoute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94CAF-0690-4BA6-A300-AB1D547C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32460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docs/api_docs.md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28168-682B-45D3-9029-EA1126AF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05550"/>
            <a:ext cx="4000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9B9A235-DB01-4AE8-B682-7A7F1BEE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8B7A"/>
          </a:solidFill>
          <a:ln xmlns:a="http://schemas.openxmlformats.org/drawingml/2006/main">
            <a:noFill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473CA7A-300A-47CD-A1BC-A7238752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"/>
            <a:ext cx="34290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DISPATCH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4FFB1-1499-42A9-B1CE-480CBD3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810500" cy="83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A single API call becomes a full decision trace.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12C75-22E0-4C96-ADA1-A5B2DDCA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3906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11430">
            <a:solidFill>
              <a:srgbClr val="2F6F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4803E-B95D-4D19-8324-85F0D11A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POST /assign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8755F-0D74-4DF8-80E6-8248CD2A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123950" cy="742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robots + pending deliveries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9002A-6218-45DD-975A-3D757493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76500"/>
            <a:ext cx="13906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11430">
            <a:solidFill>
              <a:srgbClr val="008B7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BA57B-B7B4-4D2E-BA24-EF54E728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59080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CSP filter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E8870-F90F-4899-9B59-8F4F1667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876550"/>
            <a:ext cx="1123950" cy="742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idle, battery, capacity, pickup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46CFBF-2A63-4EC9-AF5D-5F383D2B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76500"/>
            <a:ext cx="13906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11430">
            <a:solidFill>
              <a:srgbClr val="2F6F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98141A-AF82-4290-9AD1-EE8FDCC6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9080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Weighted route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12B2A2-40F7-47E1-B91F-C2472092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76550"/>
            <a:ext cx="1123950" cy="742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A* / Dijkstra / GBFS cost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12507-7F1F-4D07-9FEA-9E3D1C3D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476500"/>
            <a:ext cx="13906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11430">
            <a:solidFill>
              <a:srgbClr val="008B7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799663-188D-4602-9FA4-2A2BD11C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B49D34-5387-4ECD-AB6F-09F3E581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76550"/>
            <a:ext cx="1123950" cy="742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route + battery risk - priority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ADA7E2-1811-49D0-AE60-BF8EBF15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76500"/>
            <a:ext cx="13906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11430">
            <a:solidFill>
              <a:srgbClr val="2F6FD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DB6510-7AAE-45FC-A8FC-EF1B64B6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9080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VRP/PDP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C0ED94-9AAE-4321-AE58-DC478A4B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76550"/>
            <a:ext cx="1123950" cy="742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batch and order stops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12F5CE-94B0-44D2-96FC-CFEE2CB7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476500"/>
            <a:ext cx="13906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11430">
            <a:solidFill>
              <a:srgbClr val="008B7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293542-68F1-49FB-A7E8-6F97826B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59080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XAI return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67FDCF-AF75-4A6C-B22B-749A2F58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876550"/>
            <a:ext cx="1123950" cy="742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assignment + explanation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2C51E5-DDFF-4CC6-BF4E-D18720C4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71813"/>
            <a:ext cx="447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8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30C7B1-7348-4374-B208-C6E87535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071813"/>
            <a:ext cx="447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8"/>
          </a:solidFill>
          <a:ln xmlns:a="http://schemas.openxmlformats.org/drawingml/2006/main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3FB514-FD60-4F2C-88B5-F4D4594D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71813"/>
            <a:ext cx="447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8"/>
          </a:solidFill>
          <a:ln xmlns:a="http://schemas.openxmlformats.org/drawingml/2006/main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BD5A31-05F9-480C-A296-5A83BE40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071813"/>
            <a:ext cx="447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8"/>
          </a:solidFill>
          <a:ln xmlns:a="http://schemas.openxmlformats.org/drawingml/2006/main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255522-EAF0-4D9B-BED7-ABCCF11B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71813"/>
            <a:ext cx="447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8"/>
          </a:solidFill>
          <a:ln xmlns:a="http://schemas.openxmlformats.org/drawingml/2006/main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F2B340-0EAC-4A2F-9A9A-F537A7A2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16192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Payload 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A9CF9F-DBA3-4C11-ACE9-AAFB2EA7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3048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{ robots[], deliveries[], currentTime }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135F4A-BE29-434B-95E6-2FEBA5EB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16192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Payload out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ECFE6E-2CE3-410B-8104-438474C8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3429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{ assignments[], explanations[] }</a:t>
            </a:r>
          </a:p>
        </p:txBody>
      </p:sp>
    </p:spTree>
    <p:extLst>
      <p:ext uri="{BB962C8B-B14F-4D97-AF65-F5344CB8AC3E}">
        <p14:creationId xmlns:p14="http://schemas.microsoft.com/office/powerpoint/2010/main" val="3700172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37B660-92DD-4D0B-AE19-13665564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56557-3169-4483-AC38-ACC53E82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8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3DC90-9428-4673-B75F-D3A56EAF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RoboRoute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70B71-1D70-4827-87E4-2186CC4E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32460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docs/architecture.md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DA2C8-1AC2-4E85-A900-F4C2F294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05550"/>
            <a:ext cx="4000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11CD455-7728-4772-A457-ABE20227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05A47"/>
          </a:solidFill>
          <a:ln xmlns:a="http://schemas.openxmlformats.org/drawingml/2006/main">
            <a:noFill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CF3D822-B347-4A4E-B846-D1242C78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"/>
            <a:ext cx="34290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ROUTING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2FF1D-29EF-4555-AFAB-71952BB4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810500" cy="83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The route engine minimizes dynamic cost, not plain meters.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C6F36-A6C7-4FF7-B321-DA1B28BB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2022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ADD31-C3A6-4C12-8FF5-CE00CC7C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4343400" cy="552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weighted_cost = base_length × traffic × rain × obstacle × 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24B93-968C-44DB-B6C2-F6D71565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05250"/>
            <a:ext cx="4667250" cy="552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This lets the same physical road become more expensive when conditions worsen, without mutating the graph geometry.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5BEF8-44C3-448E-B9B8-EA74C7F9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76450"/>
            <a:ext cx="3429000" cy="4381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5906E-4C82-4623-9BB9-31C429D5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76450"/>
            <a:ext cx="2948940" cy="4381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F6FDB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E2151-9379-4860-A9D0-9C100EDF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52650"/>
            <a:ext cx="178308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A*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C072D-5180-49A0-AB87-1789D6D0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52650"/>
            <a:ext cx="5905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balanced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D9FB25-2106-40DF-9330-8067D33D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05100"/>
            <a:ext cx="3429000" cy="4381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EF23CF-D320-4107-A11B-29253C22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05100"/>
            <a:ext cx="2468880" cy="4381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08B7A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4AB7BA-6910-451F-BE52-F5E820E8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81300"/>
            <a:ext cx="178308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Dijkstra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0281A5-9B65-4F6A-852C-E9187210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81300"/>
            <a:ext cx="5905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exact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0197D6-FA8A-4E0C-B932-EC9B4CCB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33750"/>
            <a:ext cx="3429000" cy="4381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DBDD24-D8D3-4DEF-BF05-86671778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33750"/>
            <a:ext cx="1851660" cy="4381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C89022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B17BC8-1633-45EB-AF7B-C0D7B368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09950"/>
            <a:ext cx="178308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GBFS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6C45F6-71B6-4092-9D1C-770BEB43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09950"/>
            <a:ext cx="5905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fast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F961E-987C-4E2F-8620-C35621AC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10050"/>
            <a:ext cx="3429000" cy="4381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099CD5-D6B8-4E5B-915E-5E11F23A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10050"/>
            <a:ext cx="2263140" cy="4381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5A47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4AE427-C02C-4A92-8990-39A65931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86250"/>
            <a:ext cx="178308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Rain/Traffic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4A7B3E-7470-4B8C-889E-A62A4909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86250"/>
            <a:ext cx="5905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cost up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EA8169-9C8B-47F0-AC90-BBC9F347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38700"/>
            <a:ext cx="3429000" cy="4381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A2DB0C-1D74-479A-AF1E-936ED33D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38700"/>
            <a:ext cx="1645920" cy="4381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4D8F3A"/>
          </a:solidFill>
          <a:ln xmlns:a="http://schemas.openxmlformats.org/drawingml/2006/main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AD6374-9429-4E7A-8265-D96DA413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14900"/>
            <a:ext cx="178308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Road memory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784B9C-5D23-4266-8328-53C965BD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14900"/>
            <a:ext cx="5905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avoid repeat pain</a:t>
            </a:r>
          </a:p>
        </p:txBody>
      </p:sp>
    </p:spTree>
    <p:extLst>
      <p:ext uri="{BB962C8B-B14F-4D97-AF65-F5344CB8AC3E}">
        <p14:creationId xmlns:p14="http://schemas.microsoft.com/office/powerpoint/2010/main" val="5424276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31C1E3-B7B7-4CCF-84CD-0D29D0DD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3A298-067E-44CE-98ED-35998096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8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BDDE7-4495-40EE-BC11-61C7656B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RoboRoute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E10C6-F145-4A1A-87D7-9C1D5565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32460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dispatch CSP / XAI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C91D5-E700-4C0A-9965-DE4CF68D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05550"/>
            <a:ext cx="4000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1492FDE-6E1F-43EE-9068-B4B957DD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05A47"/>
          </a:solidFill>
          <a:ln xmlns:a="http://schemas.openxmlformats.org/drawingml/2006/main">
            <a:noFill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7E809A2-D685-4B68-B409-8F66307B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"/>
            <a:ext cx="34290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CBCAE-290A-4F89-9754-C651D8B6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810500" cy="83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CSP rejects unsafe candidates before scoring the survivors.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C1849-AD08-4F2E-8B16-D660BD02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4287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Robot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DC5A9-ABE1-447D-9E81-72E23161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14287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Idle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75B16-8B4C-4581-84DC-0FF6C084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14287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Battery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01BCF-746B-4270-8129-438F6A01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14287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Capacity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FB66B-6C07-4373-83BE-69D47A23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95500"/>
            <a:ext cx="14287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Pickup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F8D10-547A-4824-A415-83E205A5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95500"/>
            <a:ext cx="14287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890B88-1B9E-4B16-A8E5-B0E5C8F2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572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65EB8-EC2A-4882-A3C5-782D3ECC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14287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Robot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79B34-5B7A-461F-A6A7-AA56F991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62225"/>
            <a:ext cx="876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7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05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05A47"/>
                </a:solidFill>
                <a:latin typeface="Aptos"/>
                <a:ea typeface="Aptos"/>
                <a:cs typeface="Aptos"/>
              </a:rPr>
              <a:t>fail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D00CB-9E77-4B63-9BDD-8816329A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62225"/>
            <a:ext cx="876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3EEDB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D8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8F3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64710F-0A3B-4561-8A62-202B2F3D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62225"/>
            <a:ext cx="876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3EEDB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D8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8F3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5D7DE4-0537-43D5-A4FF-05F57CC1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62225"/>
            <a:ext cx="876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3EEDB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D8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8F3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057173-B5C4-49A0-B1F0-3417F41E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90800"/>
            <a:ext cx="13525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05A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05A47"/>
                </a:solidFill>
                <a:latin typeface="Aptos"/>
                <a:ea typeface="Aptos"/>
                <a:cs typeface="Aptos"/>
              </a:rPr>
              <a:t>REJECTED: not_idle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3DE774-6DBB-4C4C-9C28-211E3810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57275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4D8F3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910E86-5688-4C1F-8CBC-604DF2A2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14287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Robot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DFE8AB-15F9-4DA6-8181-03BDFA9F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14725"/>
            <a:ext cx="876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3EEDB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D8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8F3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33A4A2-0192-45EB-83AF-64595977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14725"/>
            <a:ext cx="876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3EEDB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D8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8F3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A0EF3C-753B-400F-B08F-5D301551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14725"/>
            <a:ext cx="876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3EEDB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D8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8F3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694B42-FDCA-4084-A88D-54926D36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14725"/>
            <a:ext cx="876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3EEDB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D8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8F3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322703-2C9B-411B-AD42-12825F17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543300"/>
            <a:ext cx="9525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8F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D8F3A"/>
                </a:solidFill>
                <a:latin typeface="Aptos"/>
                <a:ea typeface="Aptos"/>
                <a:cs typeface="Aptos"/>
              </a:rPr>
              <a:t>SELECTED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D1390B-EF0D-42FC-94B7-CE4CDD77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62400"/>
            <a:ext cx="5334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total = routeCost + batteryRisk*120 - priority*18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E39FEC-40F7-4E80-9F96-AE98EC3D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10477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XAI value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765BBE-4F80-42EA-AD60-A29D3BFE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89535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The panel explains not just who won, but why every candidate was rejected, pruned, scored, or selected.</a:t>
            </a:r>
          </a:p>
        </p:txBody>
      </p:sp>
    </p:spTree>
    <p:extLst>
      <p:ext uri="{BB962C8B-B14F-4D97-AF65-F5344CB8AC3E}">
        <p14:creationId xmlns:p14="http://schemas.microsoft.com/office/powerpoint/2010/main" val="213785998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AE5EF8-5AE0-4765-AA8C-2CA16492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B241F-126C-4704-8A48-DB135048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8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6667C-FF14-4D7C-B932-65BDE603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RoboRoute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23FA9-091C-45B5-8AD9-4E79C3EE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32460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VRP/PDP + 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C5A3F-75CE-4F5F-BA6F-D1D4C189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05550"/>
            <a:ext cx="4000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2F62B95-0421-4CB7-A9DB-E9324846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6FDB"/>
          </a:solidFill>
          <a:ln xmlns:a="http://schemas.openxmlformats.org/drawingml/2006/main">
            <a:noFill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142DB1B-EC7D-4F07-88E5-E049A964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"/>
            <a:ext cx="34290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VRP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EE3B3-6A29-441E-8B17-208FF01C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810500" cy="83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Batch routing cut the example route cost by 25.7%.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1F6AE-0A34-4CAF-B521-8522EB72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8DED7"/>
          </a:solidFill>
          <a:ln xmlns:a="http://schemas.openxmlformats.org/drawingml/2006/main" w="11430">
            <a:solidFill>
              <a:srgbClr val="E05A4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20E75-1B61-4692-A7DA-064E3720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14287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Initial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F3E73-D092-4D19-88A1-E2ED0247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20002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E05A47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E05A47"/>
                </a:solidFill>
                <a:latin typeface="Aptos"/>
                <a:ea typeface="Aptos"/>
                <a:cs typeface="Aptos"/>
              </a:rPr>
              <a:t>7634m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D1B5F-0B31-40CB-9516-D1AAC602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3048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Greedy seed sequence before simulated annealing.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DE704-42CC-474C-A611-E9BE029E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38350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3EEDB"/>
          </a:solidFill>
          <a:ln xmlns:a="http://schemas.openxmlformats.org/drawingml/2006/main" w="11430">
            <a:solidFill>
              <a:srgbClr val="4D8F3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DCD00-7960-4AFC-9459-68EED932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86000"/>
            <a:ext cx="14287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Final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956ADB-3FE7-4C41-AFA1-25A2B67B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09850"/>
            <a:ext cx="20002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4D8F3A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4D8F3A"/>
                </a:solidFill>
                <a:latin typeface="Aptos"/>
                <a:ea typeface="Aptos"/>
                <a:cs typeface="Aptos"/>
              </a:rPr>
              <a:t>5673m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469515-E21D-470F-A160-2DFE4C32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62300"/>
            <a:ext cx="31432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Optimized stop order after 5000 iterations.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044FC-66DA-482F-A891-886ECC61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38450"/>
            <a:ext cx="224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8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78FEE5-7B7F-41DA-893C-CA9C953A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76500"/>
            <a:ext cx="14859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02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25.7% better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C04941-F55E-41C4-8A8B-7FE54273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7429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FD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DB"/>
                </a:solidFill>
                <a:latin typeface="Aptos"/>
                <a:ea typeface="Aptos"/>
                <a:cs typeface="Aptos"/>
              </a:rPr>
              <a:t>P35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9E4DC0-E157-4DC5-86A6-58230253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14850"/>
            <a:ext cx="7429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8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B7A"/>
                </a:solidFill>
                <a:latin typeface="Aptos"/>
                <a:ea typeface="Aptos"/>
                <a:cs typeface="Aptos"/>
              </a:rPr>
              <a:t>D35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648250-D1B3-4DB8-8B4C-787AA163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14850"/>
            <a:ext cx="7429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FD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DB"/>
                </a:solidFill>
                <a:latin typeface="Aptos"/>
                <a:ea typeface="Aptos"/>
                <a:cs typeface="Aptos"/>
              </a:rPr>
              <a:t>P21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09CD46-B6BA-45D1-98E6-4F77DF67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14850"/>
            <a:ext cx="7429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8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B7A"/>
                </a:solidFill>
                <a:latin typeface="Aptos"/>
                <a:ea typeface="Aptos"/>
                <a:cs typeface="Aptos"/>
              </a:rPr>
              <a:t>P31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98D897-AB7F-4DE0-9FC0-1D5F7D9C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14850"/>
            <a:ext cx="7429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FD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DB"/>
                </a:solidFill>
                <a:latin typeface="Aptos"/>
                <a:ea typeface="Aptos"/>
                <a:cs typeface="Aptos"/>
              </a:rPr>
              <a:t>D21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A5573C-02FB-40DA-A9D5-FF704BE8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14850"/>
            <a:ext cx="7429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8B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B7A"/>
                </a:solidFill>
                <a:latin typeface="Aptos"/>
                <a:ea typeface="Aptos"/>
                <a:cs typeface="Aptos"/>
              </a:rPr>
              <a:t>D31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E1B542-8151-4FBF-800E-DDFE7002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76775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4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017699-8DA4-478F-B6D3-C50802BD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76775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4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18413D-E886-4CDA-9FAA-B8296DEC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76775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4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99333D-8797-466A-AE8D-B0EF30D6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76775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4"/>
          </a:solidFill>
          <a:ln xmlns:a="http://schemas.openxmlformats.org/drawingml/2006/main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2508E5-07FF-4162-99DE-E534F8E2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76775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4"/>
          </a:solidFill>
          <a:ln xmlns:a="http://schemas.openxmlformats.org/drawingml/2006/main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648164-49AC-4688-99B6-7F7042FC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81600"/>
            <a:ext cx="6858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PDP constraint: every Dxx must appear after its matching Pxx.</a:t>
            </a:r>
          </a:p>
        </p:txBody>
      </p:sp>
    </p:spTree>
    <p:extLst>
      <p:ext uri="{BB962C8B-B14F-4D97-AF65-F5344CB8AC3E}">
        <p14:creationId xmlns:p14="http://schemas.microsoft.com/office/powerpoint/2010/main" val="19542897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214F83-F813-4115-BF50-3093C3CB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0BFDC-94A8-4A45-B5DA-80105488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8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35BF1-ADE3-4A5D-B6D6-20E2869A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RoboRoute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0C0E8-4D49-4271-82F0-BB9CAC39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32460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K-means hub optimization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B1D45-5A9A-44F4-A162-1CA3D026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05550"/>
            <a:ext cx="4000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177D4D9-56BE-49C9-B289-D4499D8C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D8F3A"/>
          </a:solidFill>
          <a:ln xmlns:a="http://schemas.openxmlformats.org/drawingml/2006/main">
            <a:noFill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14DD3B8-77D8-4F47-A3B1-65E305BC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"/>
            <a:ext cx="34290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HUB OPTIMIZATION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758CA-D456-4BCC-A7E0-EAB2AB3A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810500" cy="83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K-means finds demand centers; snap-to-road makes hubs usable.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3D641-CA47-47D9-82FE-96455F24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2095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11430">
            <a:solidFill>
              <a:srgbClr val="2F6F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E79E6-37BB-4661-A7EF-E9C7CD0A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8288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Delivery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BED1B-81FB-4534-A37F-3C462E75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8288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pickup + dropoff coordinates from JSONL or 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D9BF3-6C66-49A0-97E7-9EA1572F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05050"/>
            <a:ext cx="2095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3EEDB"/>
          </a:solidFill>
          <a:ln xmlns:a="http://schemas.openxmlformats.org/drawingml/2006/main" w="11430">
            <a:solidFill>
              <a:srgbClr val="4D8F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3FB74-15DC-453B-80A9-E9663B9C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19350"/>
            <a:ext cx="18288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K-means k=5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BCDC9E-DD07-4207-A72C-1E7C111C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05100"/>
            <a:ext cx="18288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cluster demand into five centroid hubs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D7D442-697C-485E-AB85-6558620A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2095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11430">
            <a:solidFill>
              <a:srgbClr val="008B7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BCAB74-F516-423B-993F-5F325951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19350"/>
            <a:ext cx="18288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Snap to graph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AEAFE7-D739-40EA-AFC9-FC963941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05100"/>
            <a:ext cx="18288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move centroid to nearest OSM road node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896705-B22B-4F09-AFE2-AC44F3AC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05050"/>
            <a:ext cx="1714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8DED7"/>
          </a:solidFill>
          <a:ln xmlns:a="http://schemas.openxmlformats.org/drawingml/2006/main" w="11430">
            <a:solidFill>
              <a:srgbClr val="E05A4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B8334A-7C54-433F-8F2B-7CF9570E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19350"/>
            <a:ext cx="14478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Fleet starts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25FC38-96A4-4898-97E4-7C0C7A00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05100"/>
            <a:ext cx="14478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robots reposition to reachable hubs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20C143-6706-450B-9A94-994A8BAE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52738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8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5927C7-484B-4A49-A237-42360C63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52738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8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7CDEF4-8F98-45A6-AC45-06AEACA0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52738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8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70B21C-3ACB-49C5-B678-2CC0CDD4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9620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60DBA1-2307-4549-ACFD-B9F715A6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95800"/>
            <a:ext cx="9144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DED7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05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05A47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8D45DB-0646-413E-9FB7-0A0B3A26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33900"/>
            <a:ext cx="4000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Centroid can fall into Hoan Kiem Lake because it is just an average coordinate.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BDFDB5-6F38-4E19-85CE-D6A66BDA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95800"/>
            <a:ext cx="9144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3EEDB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D8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8F3A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952397-6863-46A0-9B54-185EEDAC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38650"/>
            <a:ext cx="247650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Hub is placed on the nearest road node while keeping original centroidLat/centroidLon for traceability.</a:t>
            </a:r>
          </a:p>
        </p:txBody>
      </p:sp>
    </p:spTree>
    <p:extLst>
      <p:ext uri="{BB962C8B-B14F-4D97-AF65-F5344CB8AC3E}">
        <p14:creationId xmlns:p14="http://schemas.microsoft.com/office/powerpoint/2010/main" val="7480169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340A96-20F8-44B2-B05D-378123AD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B277E-50D9-4B11-9808-FF0783D4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8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4ABA7-CF4B-427F-AABD-96B7BCD6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RoboRoute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2C67D-5B05-48A7-A756-78E8BDDF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32460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README demo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C6164-D5F4-47BA-AD1A-597DF6E5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05550"/>
            <a:ext cx="4000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93360C6-E68A-4B0F-A00C-F8C79ABA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89022"/>
          </a:solidFill>
          <a:ln xmlns:a="http://schemas.openxmlformats.org/drawingml/2006/main">
            <a:noFill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3953533-6054-48CD-B00C-F951282E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"/>
            <a:ext cx="34290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DEMO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5CDD9-5218-4085-918C-0C8162A4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810500" cy="83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Run the demo as a guided proof, not a random simulation.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0FEB4-3075-4127-B600-00A9DBED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28194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FD951-6577-48CB-AA8A-48AF8FC0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4381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D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F6FD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BF246-5656-4A98-8E86-18025500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19350"/>
            <a:ext cx="17907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Start simulation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52DCE-CC49-4E92-8E01-D0EDE5FC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24150"/>
            <a:ext cx="17526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show baseline robot movement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A46EA-9F8F-4517-B12A-4741BFA2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1462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4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51591E-104E-46BE-9FCB-5866B72C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09800"/>
            <a:ext cx="28194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DF282-65AC-4A82-84F3-6AF76F11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38400"/>
            <a:ext cx="4381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B7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8B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26A9EF-CF07-4488-9114-E9FCE306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19350"/>
            <a:ext cx="17907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Compare algorithms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70ECDD-9835-460D-83B5-8F87464A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24150"/>
            <a:ext cx="17526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A*, Dijkstra, GBFS in Academic Insights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92C5E-6FE4-4C0B-A971-164963CC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1462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4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6D0DD-8964-415B-AB28-FD49A86D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09800"/>
            <a:ext cx="28194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70695D-A228-44E3-9620-751C3DC0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38400"/>
            <a:ext cx="4381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05A4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05A4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EB7517-4C0B-4418-897F-C1FF283A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19350"/>
            <a:ext cx="17907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Add environment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986BD9-EA99-4FE1-B60F-559F316B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24150"/>
            <a:ext cx="17526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rain, traffic, obstacle change route cost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F7F0E3-5D30-4938-A447-3334127E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28194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E936DC-CCE6-43B7-9D70-0239BC22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4381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D8F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D8F3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9886F2-8C60-45D0-AC3D-8E022427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48100"/>
            <a:ext cx="17907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Open XAI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4BF6B1-AD29-4BE8-A789-5FA08F23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52900"/>
            <a:ext cx="17526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show selected/rejected robot reasoning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1AB96C-B299-4976-B912-658949DB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433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4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1E83CE-EF36-431B-9C40-44DD512A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28194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BCE7B3-02B9-43F9-827E-94EC6D78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67150"/>
            <a:ext cx="4381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8902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8902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0D45B2-9AD8-46BE-B05D-97056C5A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48100"/>
            <a:ext cx="17907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Trigger VRP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124303-3D8F-45FC-A6DC-A4CA520A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52900"/>
            <a:ext cx="17526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queue pressure batches up to 3 orders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9E689D-1895-4A20-A9AD-EACF96A1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433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4"/>
          </a:solidFill>
          <a:ln xmlns:a="http://schemas.openxmlformats.org/drawingml/2006/main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C9B03B-43F0-4B2F-95C3-7880DB23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38550"/>
            <a:ext cx="28194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7CFA49-C481-4816-93FD-1689ECF0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67150"/>
            <a:ext cx="4381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F916BB-2D33-492F-AAD7-751B760E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48100"/>
            <a:ext cx="17907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Optimize hubs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47B191-734A-4E60-AF5C-B6417D5C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52900"/>
            <a:ext cx="17526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K-means then snap-to-road placement</a:t>
            </a:r>
          </a:p>
        </p:txBody>
      </p:sp>
    </p:spTree>
    <p:extLst>
      <p:ext uri="{BB962C8B-B14F-4D97-AF65-F5344CB8AC3E}">
        <p14:creationId xmlns:p14="http://schemas.microsoft.com/office/powerpoint/2010/main" val="125938878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693536-6281-4800-918B-CD7DA8E0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481FA-384A-4348-ADC3-678B35D8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8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D8540-CECA-45C0-8F7B-B603BFC8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RoboRoute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E2E24-A0CC-49FE-981B-8A96ED49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32460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6D"/>
                </a:solidFill>
                <a:latin typeface="Aptos"/>
                <a:ea typeface="Aptos"/>
                <a:cs typeface="Aptos"/>
              </a:rPr>
              <a:t>docs/prd.md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BD316-9980-470D-9D9F-51122BCF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05550"/>
            <a:ext cx="4000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B6201E5-C00A-4539-A10E-430C633D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05A47"/>
          </a:solidFill>
          <a:ln xmlns:a="http://schemas.openxmlformats.org/drawingml/2006/main">
            <a:noFill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E6984D1-D02C-482B-9322-76BD3B9A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"/>
            <a:ext cx="34290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SCOPE DISCIPLINE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02145-A1A2-4338-B77D-DA7BE891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810500" cy="83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The current build is honest about its limits and clear about extensions.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07D52-ACFE-4B4C-BE20-C7197753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714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8F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D8F3A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B274E-E1DA-44D8-9C64-6209D4BE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1714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5A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05A47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98660-70FD-45E1-8B43-1AC57161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44767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376EC-1BA7-41CC-9346-1B70F96E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5143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EEDB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D8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8F3A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2C21A-F025-4B17-9103-B5C677C8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14600"/>
            <a:ext cx="3238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Weighted routing on OSM 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FEEB1-A329-4455-891A-CAE2504F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44767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92BA2-15E8-469E-BD8D-09B3338A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5143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EEDB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D8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8F3A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781C3-3EB8-4F41-A5F0-2F0B9091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67050"/>
            <a:ext cx="3238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CSP/XAI dispatch explanations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F2D610-FE9C-4690-A493-0C0C3D56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4767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59592-82A1-4EAD-BC2F-7F8E576E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5143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EEDB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D8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8F3A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78210-B0D1-4A5B-8D26-3E6B82F4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19500"/>
            <a:ext cx="3238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VRP/PDP batch assignment, capacity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64D692-EEEF-48F9-87CF-86862F36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4767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765BD3-3988-445E-8A26-EEEC3514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52900"/>
            <a:ext cx="5143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EEDB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D8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8F3A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F7CA26-C04E-4DC9-B056-A9722541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71950"/>
            <a:ext cx="3238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K-means hubs with snap-to-road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DCDDB5-175A-4E0D-BA9B-84FAEA92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44767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1946C2-ED22-4886-88BD-E2531A8E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5143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EEDB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D8F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8F3A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E2A0A3-80A0-41FA-87D4-B4915DF4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24400"/>
            <a:ext cx="3238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JSONL logs instead of database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C5133B-B31F-4631-A44F-DF8CE61B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19350"/>
            <a:ext cx="44767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D75542-80A4-48EA-80F2-C2C03509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95550"/>
            <a:ext cx="5143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DED7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05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05A47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A7BEB9-B4C1-4453-A983-76B1780F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14600"/>
            <a:ext cx="3238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Auto-K / Elbow for hub count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07CECA-6C2F-4B9B-AD14-79D77031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71800"/>
            <a:ext cx="44767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C52541-AF6A-4841-B070-3459E02C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5143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DED7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05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05A47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5BA6FB-FEAA-47EC-BDE5-8D9A1FE5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67050"/>
            <a:ext cx="3238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Dashboard for JSONL analysis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70708C-5FDA-4F68-8175-32F6AD98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44767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31A4BA-C170-4052-B3E1-9534FC48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0450"/>
            <a:ext cx="5143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DED7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05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05A47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79E8C8-84A9-445C-BCA1-295B8652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19500"/>
            <a:ext cx="3238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Production-grade online VRP insertion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78DF74-8FAA-4A50-90BE-EC5DC573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76700"/>
            <a:ext cx="44767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2065B4-F0AC-40CF-AC77-2B0A8A77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52900"/>
            <a:ext cx="5143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DED7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05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05A47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FC0FA1-A46A-46AB-9330-877CE154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71950"/>
            <a:ext cx="3238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Before/after hub metrics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636042-03AC-4AE2-9A0A-D26B9CAE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29150"/>
            <a:ext cx="44767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4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296359-9CBB-4667-ADAD-2F1CBF66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5143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DED7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05A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05A47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941107-4BD1-4107-8E26-864CA3A4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24400"/>
            <a:ext cx="3238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Presentation screenshots or GIF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0A77E0-024D-4180-9E04-F7290E38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333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86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86D"/>
                </a:solidFill>
                <a:latin typeface="Aptos"/>
                <a:ea typeface="Aptos"/>
                <a:cs typeface="Aptos"/>
              </a:rPr>
              <a:t>Closing answer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BA0648-D2E0-4D92-A5D6-011EE096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93345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52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2528"/>
                </a:solidFill>
                <a:latin typeface="Aptos"/>
                <a:ea typeface="Aptos"/>
                <a:cs typeface="Aptos"/>
              </a:rPr>
              <a:t>RoboRoute proves the AI pipeline; production logistics would require deeper optimization, persistence, and online replanning.</a:t>
            </a:r>
          </a:p>
        </p:txBody>
      </p:sp>
    </p:spTree>
    <p:extLst>
      <p:ext uri="{BB962C8B-B14F-4D97-AF65-F5344CB8AC3E}">
        <p14:creationId xmlns:p14="http://schemas.microsoft.com/office/powerpoint/2010/main" val="21154269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2026-06-15T09:36:11.8180000Z</dcterms:created>
  <dcterms:modified xsi:type="dcterms:W3CDTF">2026-06-15T09:36:11.8180000Z</dcterms:modified>
</coreProperties>
</file>